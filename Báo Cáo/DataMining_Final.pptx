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Lato Heavy" panose="020F0502020204030203" pitchFamily="34" charset="0"/>
      <p:regular r:id="rId11"/>
      <p:bold r:id="rId12"/>
    </p:embeddedFont>
    <p:embeddedFont>
      <p:font typeface="Public Sans Bold" pitchFamily="2" charset="77"/>
      <p:regular r:id="rId13"/>
    </p:embeddedFont>
    <p:embeddedFont>
      <p:font typeface="Public Sans Medium" pitchFamily="2" charset="77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 autoAdjust="0"/>
    <p:restoredTop sz="94558" autoAdjust="0"/>
  </p:normalViewPr>
  <p:slideViewPr>
    <p:cSldViewPr>
      <p:cViewPr varScale="1">
        <p:scale>
          <a:sx n="77" d="100"/>
          <a:sy n="77" d="100"/>
        </p:scale>
        <p:origin x="125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3" name="Group 3"/>
          <p:cNvGrpSpPr/>
          <p:nvPr/>
        </p:nvGrpSpPr>
        <p:grpSpPr>
          <a:xfrm>
            <a:off x="1192165" y="1328720"/>
            <a:ext cx="9813831" cy="4108622"/>
            <a:chOff x="0" y="0"/>
            <a:chExt cx="13085108" cy="5478163"/>
          </a:xfrm>
        </p:grpSpPr>
        <p:sp>
          <p:nvSpPr>
            <p:cNvPr id="4" name="TextBox 4"/>
            <p:cNvSpPr txBox="1"/>
            <p:nvPr/>
          </p:nvSpPr>
          <p:spPr>
            <a:xfrm>
              <a:off x="0" y="1547610"/>
              <a:ext cx="13085108" cy="2743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60"/>
                </a:lnSpc>
              </a:pPr>
              <a:r>
                <a:rPr lang="en-US" sz="6800" b="1">
                  <a:solidFill>
                    <a:srgbClr val="414042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Tóm tắt văn bản tự động tiếng Việt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889941"/>
              <a:ext cx="10246721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1533768" cy="5890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57152" y="4979838"/>
            <a:ext cx="5753248" cy="387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17"/>
              </a:lnSpc>
              <a:spcBef>
                <a:spcPct val="0"/>
              </a:spcBef>
            </a:pPr>
            <a:r>
              <a:rPr lang="en-US" sz="2369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Sử</a:t>
            </a:r>
            <a:r>
              <a:rPr lang="en-US" sz="2369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369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dụng</a:t>
            </a:r>
            <a:r>
              <a:rPr lang="en-US" sz="2369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Word2Vec </a:t>
            </a:r>
            <a:r>
              <a:rPr lang="en-US" sz="2369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và</a:t>
            </a:r>
            <a:r>
              <a:rPr lang="en-US" sz="2369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369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KMeans</a:t>
            </a:r>
            <a:endParaRPr lang="en-US" sz="2369" b="1" dirty="0">
              <a:solidFill>
                <a:srgbClr val="41404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7949397"/>
            <a:ext cx="11538603" cy="119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Sinh viên thực hiện: </a:t>
            </a:r>
          </a:p>
          <a:p>
            <a:pPr algn="just">
              <a:lnSpc>
                <a:spcPts val="3255"/>
              </a:lnSpc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Trần Văn Việt - 2221050660</a:t>
            </a:r>
          </a:p>
          <a:p>
            <a:pPr algn="just">
              <a:lnSpc>
                <a:spcPts val="3255"/>
              </a:lnSpc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Nguyễn Hữu Khang - 2221050747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32806"/>
            <a:ext cx="7658100" cy="5021387"/>
            <a:chOff x="0" y="0"/>
            <a:chExt cx="4994894" cy="3275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94894" cy="3275133"/>
            </a:xfrm>
            <a:custGeom>
              <a:avLst/>
              <a:gdLst/>
              <a:ahLst/>
              <a:cxnLst/>
              <a:rect l="l" t="t" r="r" b="b"/>
              <a:pathLst>
                <a:path w="4994894" h="3275133">
                  <a:moveTo>
                    <a:pt x="4690094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970333"/>
                  </a:lnTo>
                  <a:cubicBezTo>
                    <a:pt x="0" y="3139243"/>
                    <a:pt x="135890" y="3275133"/>
                    <a:pt x="304800" y="3275133"/>
                  </a:cubicBezTo>
                  <a:lnTo>
                    <a:pt x="4690094" y="3275133"/>
                  </a:lnTo>
                  <a:cubicBezTo>
                    <a:pt x="4859003" y="3275133"/>
                    <a:pt x="4994894" y="3139243"/>
                    <a:pt x="4994894" y="2970333"/>
                  </a:cubicBezTo>
                  <a:lnTo>
                    <a:pt x="4994894" y="304800"/>
                  </a:lnTo>
                  <a:cubicBezTo>
                    <a:pt x="4994894" y="135890"/>
                    <a:pt x="4859003" y="0"/>
                    <a:pt x="4690094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020300" y="4272915"/>
            <a:ext cx="6098065" cy="190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Giảm số lượng câu trong văn bản dài nhưng vẫn giữ được ý chính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Giúp người đọc nắm nội dung nhanh chóng</a:t>
            </a:r>
          </a:p>
          <a:p>
            <a:pPr marL="464185" lvl="1" indent="-232092" algn="l">
              <a:lnSpc>
                <a:spcPts val="3010"/>
              </a:lnSpc>
              <a:buFont typeface="Arial"/>
              <a:buChar char="•"/>
            </a:pPr>
            <a:r>
              <a:rPr lang="en-US" sz="2150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Hỗ trợ nghiên cứu, đọc báo cáo, tin tức, hoặc tài liệu học tập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7177" y="3613941"/>
            <a:ext cx="6809287" cy="3031813"/>
            <a:chOff x="0" y="0"/>
            <a:chExt cx="9079049" cy="4042417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9079049" cy="283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1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Mục tiêu của tóm tắt văn bản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358310"/>
              <a:ext cx="8677643" cy="684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7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80198" y="2970087"/>
            <a:ext cx="8107802" cy="5502218"/>
          </a:xfrm>
          <a:custGeom>
            <a:avLst/>
            <a:gdLst/>
            <a:ahLst/>
            <a:cxnLst/>
            <a:rect l="l" t="t" r="r" b="b"/>
            <a:pathLst>
              <a:path w="8107802" h="5502218">
                <a:moveTo>
                  <a:pt x="0" y="0"/>
                </a:moveTo>
                <a:lnTo>
                  <a:pt x="8107802" y="0"/>
                </a:lnTo>
                <a:lnTo>
                  <a:pt x="8107802" y="5502218"/>
                </a:lnTo>
                <a:lnTo>
                  <a:pt x="0" y="5502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TextBox 3"/>
          <p:cNvSpPr txBox="1"/>
          <p:nvPr/>
        </p:nvSpPr>
        <p:spPr>
          <a:xfrm>
            <a:off x="1028700" y="3345266"/>
            <a:ext cx="691685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Quy trình tóm tắt văn bản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6810" y="1567076"/>
            <a:ext cx="1052743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0"/>
              </a:lnSpc>
            </a:pPr>
            <a:r>
              <a:rPr lang="en-US" sz="6925" b="1">
                <a:solidFill>
                  <a:srgbClr val="41404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Tổng quan phương pháp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9076" y="4137977"/>
            <a:ext cx="7724924" cy="195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Tiền xử lý: Làm sạch văn bản.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Tách câu: Phân chia để xử lý từng câu.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Vector hóa: Chuyển câu thành vector số.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Phân cụm KMeans: Nhóm câu theo ý nghĩa.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Chọn câu: Lấy câu tiêu biểu cho từng nhóm → Summary.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3472" y="8601775"/>
            <a:ext cx="691589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Mô hình sử dụng thuật toán phân cụm K-means kết hợp vị trí tương đối của câu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890958" cy="10287000"/>
            <a:chOff x="0" y="0"/>
            <a:chExt cx="6451245" cy="6709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1245" cy="6709559"/>
            </a:xfrm>
            <a:custGeom>
              <a:avLst/>
              <a:gdLst/>
              <a:ahLst/>
              <a:cxnLst/>
              <a:rect l="l" t="t" r="r" b="b"/>
              <a:pathLst>
                <a:path w="6451245" h="6709559">
                  <a:moveTo>
                    <a:pt x="614644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6404758"/>
                  </a:lnTo>
                  <a:cubicBezTo>
                    <a:pt x="0" y="6573669"/>
                    <a:pt x="135890" y="6709559"/>
                    <a:pt x="304800" y="6709559"/>
                  </a:cubicBezTo>
                  <a:lnTo>
                    <a:pt x="6146445" y="6709559"/>
                  </a:lnTo>
                  <a:cubicBezTo>
                    <a:pt x="6315355" y="6709559"/>
                    <a:pt x="6451245" y="6573669"/>
                    <a:pt x="6451245" y="6404758"/>
                  </a:cubicBezTo>
                  <a:lnTo>
                    <a:pt x="6451245" y="304800"/>
                  </a:lnTo>
                  <a:cubicBezTo>
                    <a:pt x="6451245" y="135890"/>
                    <a:pt x="6315355" y="0"/>
                    <a:pt x="6146445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4" name="Freeform 4"/>
          <p:cNvSpPr/>
          <p:nvPr/>
        </p:nvSpPr>
        <p:spPr>
          <a:xfrm>
            <a:off x="9890958" y="3904039"/>
            <a:ext cx="8397042" cy="2361668"/>
          </a:xfrm>
          <a:custGeom>
            <a:avLst/>
            <a:gdLst/>
            <a:ahLst/>
            <a:cxnLst/>
            <a:rect l="l" t="t" r="r" b="b"/>
            <a:pathLst>
              <a:path w="8397042" h="2361668">
                <a:moveTo>
                  <a:pt x="0" y="0"/>
                </a:moveTo>
                <a:lnTo>
                  <a:pt x="8397042" y="0"/>
                </a:lnTo>
                <a:lnTo>
                  <a:pt x="8397042" y="2361668"/>
                </a:lnTo>
                <a:lnTo>
                  <a:pt x="0" y="2361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" name="TextBox 5"/>
          <p:cNvSpPr txBox="1"/>
          <p:nvPr/>
        </p:nvSpPr>
        <p:spPr>
          <a:xfrm>
            <a:off x="1206088" y="5943138"/>
            <a:ext cx="8397042" cy="362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0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Sử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dụng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nltk.sent_tokenize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để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chia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văn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bản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thành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các</a:t>
            </a:r>
            <a:r>
              <a:rPr lang="en-US" sz="2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200" b="1" dirty="0" err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câu</a:t>
            </a:r>
            <a:endParaRPr lang="en-US" sz="2200" b="1" dirty="0">
              <a:solidFill>
                <a:srgbClr val="41404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06088" y="3047317"/>
            <a:ext cx="7272012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Chuyển tất cả chữ thành chữ thường (lowercase)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Loại bỏ xuống dòng và khoảng trắng thừa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Chuẩn bị dữ liệu cho bước tách câu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41404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6088" y="2083911"/>
            <a:ext cx="807267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1: Tiền xử lý văn bản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6088" y="5170598"/>
            <a:ext cx="581257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2: Tách câu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6789179"/>
            <a:ext cx="1384712" cy="362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Ví</a:t>
            </a:r>
            <a:r>
              <a:rPr lang="en-US" sz="2199" b="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dụ</a:t>
            </a:r>
            <a:r>
              <a:rPr lang="en-US" sz="2199" b="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0374" y="7196708"/>
            <a:ext cx="8265319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Văn bản: "Hôm nay trời đẹp. Tôi đi học. Buổi học rất thú vị."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Kết quả: ["Hôm nay trời đẹp.", "Tôi đi học.", "Buổi học rất thú vị."]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90958" y="3512244"/>
            <a:ext cx="2611445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Các bước xử lý: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1123" y="1028700"/>
            <a:ext cx="10618177" cy="8229600"/>
            <a:chOff x="0" y="0"/>
            <a:chExt cx="6925564" cy="5367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5564" cy="5367647"/>
            </a:xfrm>
            <a:custGeom>
              <a:avLst/>
              <a:gdLst/>
              <a:ahLst/>
              <a:cxnLst/>
              <a:rect l="l" t="t" r="r" b="b"/>
              <a:pathLst>
                <a:path w="6925564" h="5367647">
                  <a:moveTo>
                    <a:pt x="6620764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5062847"/>
                  </a:lnTo>
                  <a:cubicBezTo>
                    <a:pt x="0" y="5231757"/>
                    <a:pt x="135890" y="5367647"/>
                    <a:pt x="304800" y="5367647"/>
                  </a:cubicBezTo>
                  <a:lnTo>
                    <a:pt x="6620764" y="5367647"/>
                  </a:lnTo>
                  <a:cubicBezTo>
                    <a:pt x="6789674" y="5367647"/>
                    <a:pt x="6925564" y="5231757"/>
                    <a:pt x="6925564" y="5062847"/>
                  </a:cubicBezTo>
                  <a:lnTo>
                    <a:pt x="6925564" y="304800"/>
                  </a:lnTo>
                  <a:cubicBezTo>
                    <a:pt x="6925564" y="135890"/>
                    <a:pt x="6789674" y="0"/>
                    <a:pt x="6620764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05730" y="1878728"/>
            <a:ext cx="5719331" cy="16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3: Chuyển câu thành vector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54001" y="3198178"/>
            <a:ext cx="7273450" cy="443230"/>
            <a:chOff x="0" y="0"/>
            <a:chExt cx="9697934" cy="590973"/>
          </a:xfrm>
        </p:grpSpPr>
        <p:sp>
          <p:nvSpPr>
            <p:cNvPr id="6" name="TextBox 6"/>
            <p:cNvSpPr txBox="1"/>
            <p:nvPr/>
          </p:nvSpPr>
          <p:spPr>
            <a:xfrm>
              <a:off x="0" y="610023"/>
              <a:ext cx="9697934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words = ["Tôi", "đi", "học"]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9697934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2A9B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Tokenize câu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2081157"/>
            <a:ext cx="7273450" cy="834390"/>
            <a:chOff x="0" y="0"/>
            <a:chExt cx="9697934" cy="1112520"/>
          </a:xfrm>
        </p:grpSpPr>
        <p:sp>
          <p:nvSpPr>
            <p:cNvPr id="9" name="TextBox 9"/>
            <p:cNvSpPr txBox="1"/>
            <p:nvPr/>
          </p:nvSpPr>
          <p:spPr>
            <a:xfrm>
              <a:off x="0" y="610023"/>
              <a:ext cx="9697934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9697934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2A9B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Ví dụ câu: "Tôi đi học"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54001" y="4869339"/>
            <a:ext cx="7273450" cy="834390"/>
            <a:chOff x="0" y="0"/>
            <a:chExt cx="9697934" cy="11125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0023"/>
              <a:ext cx="9697934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“Tôi” là stopword → loại bỏ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9697934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2A9B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Loại bỏ stopwords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54001" y="6254750"/>
            <a:ext cx="7273450" cy="1616075"/>
            <a:chOff x="0" y="0"/>
            <a:chExt cx="9697934" cy="21547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610023"/>
              <a:ext cx="9697934" cy="1544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Ví dụ:  "đi"  -&gt; [0.1, 0.2, 0.0, -0.1, 0.05]</a:t>
              </a:r>
            </a:p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            "học" -&gt; [0.3, -0.2, 0.1, 0.05, 0.4]</a:t>
              </a:r>
            </a:p>
            <a:p>
              <a:pPr algn="l">
                <a:lnSpc>
                  <a:spcPts val="3079"/>
                </a:lnSpc>
              </a:pPr>
              <a:endPara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697934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2A9B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Lấy vector từng từ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179057" y="1340691"/>
            <a:ext cx="6267088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Ví dụ minh họa từng bước: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2972" y="3131503"/>
            <a:ext cx="126039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72972" y="4802664"/>
            <a:ext cx="1260391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2972" y="6188075"/>
            <a:ext cx="1260391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72972" y="7534434"/>
            <a:ext cx="1260391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5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54001" y="7601109"/>
            <a:ext cx="7273450" cy="443230"/>
            <a:chOff x="0" y="0"/>
            <a:chExt cx="9697934" cy="590973"/>
          </a:xfrm>
        </p:grpSpPr>
        <p:sp>
          <p:nvSpPr>
            <p:cNvPr id="23" name="TextBox 23"/>
            <p:cNvSpPr txBox="1"/>
            <p:nvPr/>
          </p:nvSpPr>
          <p:spPr>
            <a:xfrm>
              <a:off x="0" y="610023"/>
              <a:ext cx="9697934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Tính vector câu = trung bình của các vector từ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9697934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2A9B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Tính trung bình vector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5730" y="3981133"/>
            <a:ext cx="5416293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Sử dụng Word2Vec để biểu diễn mỗi từ thành vector số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Câu được biểu diễn bằng vector trung bình các từ trong câu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Loại bỏ stopwords để tránh từ không quan trọng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72972" y="2040517"/>
            <a:ext cx="1108366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Bước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91964" y="3480098"/>
            <a:ext cx="10396036" cy="3326804"/>
          </a:xfrm>
          <a:custGeom>
            <a:avLst/>
            <a:gdLst/>
            <a:ahLst/>
            <a:cxnLst/>
            <a:rect l="l" t="t" r="r" b="b"/>
            <a:pathLst>
              <a:path w="10396036" h="3326804">
                <a:moveTo>
                  <a:pt x="0" y="0"/>
                </a:moveTo>
                <a:lnTo>
                  <a:pt x="10396036" y="0"/>
                </a:lnTo>
                <a:lnTo>
                  <a:pt x="10396036" y="3326804"/>
                </a:lnTo>
                <a:lnTo>
                  <a:pt x="0" y="332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51" b="-1951"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6863264" cy="2686854"/>
            <a:chOff x="0" y="0"/>
            <a:chExt cx="9151018" cy="3582472"/>
          </a:xfrm>
        </p:grpSpPr>
        <p:sp>
          <p:nvSpPr>
            <p:cNvPr id="4" name="TextBox 4"/>
            <p:cNvSpPr txBox="1"/>
            <p:nvPr/>
          </p:nvSpPr>
          <p:spPr>
            <a:xfrm>
              <a:off x="0" y="1566719"/>
              <a:ext cx="8363137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80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17029"/>
              <a:ext cx="9151018" cy="2065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Nhóm các câu tương đồng thành các cluster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Xác định số lượng cluster dựa trên tỷ lệ scale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Mỗi cụm đại diện cho 1 ý chính trong văn bản</a:t>
              </a:r>
            </a:p>
            <a:p>
              <a:pPr algn="l">
                <a:lnSpc>
                  <a:spcPts val="3079"/>
                </a:lnSpc>
              </a:pPr>
              <a:endParaRPr lang="en-US" sz="2199" b="1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9151018" cy="104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305"/>
                </a:lnSpc>
              </a:pPr>
              <a:r>
                <a:rPr lang="en-US" sz="4850" b="1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Bước 4: Phân cụm câu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7112931"/>
            <a:ext cx="14256242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Sau khi vector hóa từng câu, mỗi câu trở thành một điểm trong không gian nhiều chiều.</a:t>
            </a:r>
          </a:p>
          <a:p>
            <a:pPr marL="474979" lvl="1" indent="-23749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Mục tiêu: gom các câu có ý nghĩa gần nhau vào cùng một nhóm (cluster).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endParaRPr lang="en-US" sz="2199" b="1">
              <a:solidFill>
                <a:srgbClr val="000000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6571447"/>
            <a:ext cx="2080485" cy="422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Ý</a:t>
            </a:r>
            <a:r>
              <a:rPr lang="en-US" sz="2600" b="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tưởng</a:t>
            </a:r>
            <a:r>
              <a:rPr lang="en-US" sz="2600" b="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82751" y="2941013"/>
            <a:ext cx="2814461" cy="422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Cách</a:t>
            </a:r>
            <a:r>
              <a:rPr lang="en-US" sz="2600" b="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hoạt</a:t>
            </a:r>
            <a:r>
              <a:rPr lang="en-US" sz="2600" b="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động</a:t>
            </a:r>
            <a:endParaRPr lang="en-US" sz="2600" b="1" dirty="0">
              <a:solidFill>
                <a:srgbClr val="000000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3000" y="5143500"/>
            <a:ext cx="10886137" cy="1048295"/>
          </a:xfrm>
          <a:custGeom>
            <a:avLst/>
            <a:gdLst/>
            <a:ahLst/>
            <a:cxnLst/>
            <a:rect l="l" t="t" r="r" b="b"/>
            <a:pathLst>
              <a:path w="10886137" h="1048295">
                <a:moveTo>
                  <a:pt x="0" y="0"/>
                </a:moveTo>
                <a:lnTo>
                  <a:pt x="10886137" y="0"/>
                </a:lnTo>
                <a:lnTo>
                  <a:pt x="10886137" y="1048294"/>
                </a:lnTo>
                <a:lnTo>
                  <a:pt x="0" y="1048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3" name="Group 3"/>
          <p:cNvGrpSpPr/>
          <p:nvPr/>
        </p:nvGrpSpPr>
        <p:grpSpPr>
          <a:xfrm>
            <a:off x="927350" y="1200385"/>
            <a:ext cx="9890016" cy="6475513"/>
            <a:chOff x="0" y="0"/>
            <a:chExt cx="13186687" cy="8634018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2528777" cy="1428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1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Bước 5: Tạo summary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26593"/>
              <a:ext cx="13186687" cy="29555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Chọn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câu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gần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tâm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cụm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làm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đại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diện</a:t>
              </a:r>
              <a:endParaRPr lang="en-US" sz="3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endParaRP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Sắp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xếp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câu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theo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thứ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tự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xuất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hiện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trong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văn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bản</a:t>
              </a:r>
              <a:endParaRPr lang="en-US" sz="3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endParaRP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Ghép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các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câu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đại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diện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→ summary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cuối</a:t>
              </a:r>
              <a:r>
                <a:rPr lang="en-US" sz="3200" b="1" dirty="0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 </a:t>
              </a:r>
              <a:r>
                <a:rPr lang="en-US" sz="3200" b="1" dirty="0" err="1">
                  <a:solidFill>
                    <a:srgbClr val="414042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cùng</a:t>
              </a:r>
              <a:endParaRPr lang="en-US" sz="3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endParaRPr>
            </a:p>
            <a:p>
              <a:pPr algn="l">
                <a:lnSpc>
                  <a:spcPts val="4480"/>
                </a:lnSpc>
              </a:pPr>
              <a:endParaRPr lang="en-US" sz="3200" b="1" dirty="0">
                <a:solidFill>
                  <a:srgbClr val="414042"/>
                </a:solidFill>
                <a:latin typeface="Public Sans Medium"/>
                <a:ea typeface="Public Sans Medium"/>
                <a:cs typeface="Public Sans Medium"/>
                <a:sym typeface="Public Sans Medium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55956"/>
              <a:ext cx="10970498" cy="578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7890" y="2695693"/>
            <a:ext cx="8018441" cy="1714571"/>
          </a:xfrm>
          <a:custGeom>
            <a:avLst/>
            <a:gdLst/>
            <a:ahLst/>
            <a:cxnLst/>
            <a:rect l="l" t="t" r="r" b="b"/>
            <a:pathLst>
              <a:path w="8018441" h="1714571">
                <a:moveTo>
                  <a:pt x="0" y="0"/>
                </a:moveTo>
                <a:lnTo>
                  <a:pt x="8018441" y="0"/>
                </a:lnTo>
                <a:lnTo>
                  <a:pt x="8018441" y="1714570"/>
                </a:lnTo>
                <a:lnTo>
                  <a:pt x="0" y="171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Freeform 3"/>
          <p:cNvSpPr/>
          <p:nvPr/>
        </p:nvSpPr>
        <p:spPr>
          <a:xfrm>
            <a:off x="967890" y="5466031"/>
            <a:ext cx="14938391" cy="1960664"/>
          </a:xfrm>
          <a:custGeom>
            <a:avLst/>
            <a:gdLst/>
            <a:ahLst/>
            <a:cxnLst/>
            <a:rect l="l" t="t" r="r" b="b"/>
            <a:pathLst>
              <a:path w="14938391" h="1960664">
                <a:moveTo>
                  <a:pt x="0" y="0"/>
                </a:moveTo>
                <a:lnTo>
                  <a:pt x="14938391" y="0"/>
                </a:lnTo>
                <a:lnTo>
                  <a:pt x="14938391" y="1960664"/>
                </a:lnTo>
                <a:lnTo>
                  <a:pt x="0" y="1960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" name="TextBox 4"/>
          <p:cNvSpPr txBox="1"/>
          <p:nvPr/>
        </p:nvSpPr>
        <p:spPr>
          <a:xfrm>
            <a:off x="967890" y="1100255"/>
            <a:ext cx="6629400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Ví dụ minh họa</a:t>
            </a:r>
          </a:p>
          <a:p>
            <a:pPr algn="l">
              <a:lnSpc>
                <a:spcPts val="8399"/>
              </a:lnSpc>
            </a:pPr>
            <a:endParaRPr lang="en-US" sz="6999" b="1">
              <a:solidFill>
                <a:srgbClr val="FFFFFF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8400"/>
              </a:lnSpc>
            </a:pPr>
            <a:endParaRPr lang="en-US" sz="6999" b="1">
              <a:solidFill>
                <a:srgbClr val="FFFFFF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7890" y="4942055"/>
            <a:ext cx="1574006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Summary: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7890" y="2171183"/>
            <a:ext cx="6048354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Bài báo gốc với tiêu đề chính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7206" y="4681537"/>
            <a:ext cx="552047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Macintosh PowerPoint</Application>
  <PresentationFormat>Custom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Public Sans Medium</vt:lpstr>
      <vt:lpstr>Calibri</vt:lpstr>
      <vt:lpstr>Lato Heavy</vt:lpstr>
      <vt:lpstr>Public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Xanh dương Các yếu tố cùng kích thước &amp; Giả lập Công nghệ trong Cuộc sống của Người tiêu dùng Bản thuyết trình Công nghệ</dc:title>
  <cp:lastModifiedBy>TRẦN VĂN VIỆT</cp:lastModifiedBy>
  <cp:revision>2</cp:revision>
  <dcterms:created xsi:type="dcterms:W3CDTF">2006-08-16T00:00:00Z</dcterms:created>
  <dcterms:modified xsi:type="dcterms:W3CDTF">2025-12-07T13:28:46Z</dcterms:modified>
  <dc:identifier>DAG6ogNP9xY</dc:identifier>
</cp:coreProperties>
</file>